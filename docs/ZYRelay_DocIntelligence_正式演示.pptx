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3d46e98ac4202" /><Relationship Type="http://schemas.openxmlformats.org/officeDocument/2006/relationships/extended-properties" Target="/docProps/app.xml" Id="Rcdb57f6a10304043" /><Relationship Type="http://schemas.openxmlformats.org/officeDocument/2006/relationships/officeDocument" Target="/ppt/presentation.xml" Id="R03ac7d4a31ff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46590bd9d54bb3"/>
  </p:sldMasterIdLst>
  <p:notesMasterIdLst>
    <p:notesMasterId xmlns:r="http://schemas.openxmlformats.org/officeDocument/2006/relationships" r:id="Rd36157a680f341ca"/>
  </p:notesMasterIdLst>
  <p:sldIdLst>
    <p:sldId xmlns:r="http://schemas.openxmlformats.org/officeDocument/2006/relationships" id="256" r:id="Rc8957d3c9813454b"/>
    <p:sldId xmlns:r="http://schemas.openxmlformats.org/officeDocument/2006/relationships" id="257" r:id="R3832c7415e6d434f"/>
    <p:sldId xmlns:r="http://schemas.openxmlformats.org/officeDocument/2006/relationships" id="258" r:id="Rcfa79cbabd03462a"/>
    <p:sldId xmlns:r="http://schemas.openxmlformats.org/officeDocument/2006/relationships" id="259" r:id="Re26466d60e4f426d"/>
    <p:sldId xmlns:r="http://schemas.openxmlformats.org/officeDocument/2006/relationships" id="260" r:id="R2e547aa078ff49ab"/>
    <p:sldId xmlns:r="http://schemas.openxmlformats.org/officeDocument/2006/relationships" id="261" r:id="R7218cfe100154278"/>
    <p:sldId xmlns:r="http://schemas.openxmlformats.org/officeDocument/2006/relationships" id="262" r:id="R2b44b8feb86243ff"/>
    <p:sldId xmlns:r="http://schemas.openxmlformats.org/officeDocument/2006/relationships" id="263" r:id="R280ab11a45f14eb6"/>
    <p:sldId xmlns:r="http://schemas.openxmlformats.org/officeDocument/2006/relationships" id="264" r:id="R4ed6f0e83fb246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d16f0e40214cbf" /><Relationship Type="http://schemas.openxmlformats.org/officeDocument/2006/relationships/slideMaster" Target="/ppt/slideMasters/slideMaster1.xml" Id="R8e46590bd9d54bb3" /><Relationship Type="http://schemas.openxmlformats.org/officeDocument/2006/relationships/notesMaster" Target="/ppt/notesMasters/notesMaster1.xml" Id="Rd36157a680f341ca" /><Relationship Type="http://schemas.openxmlformats.org/officeDocument/2006/relationships/presProps" Target="/ppt/presProps.xml" Id="R7f92d391e3a84d9e" /><Relationship Type="http://schemas.openxmlformats.org/officeDocument/2006/relationships/tableStyles" Target="/ppt/tableStyles.xml" Id="Rdd7945f93fb84e49" /><Relationship Type="http://schemas.openxmlformats.org/officeDocument/2006/relationships/slide" Target="/ppt/slides/slide1.xml" Id="Rc8957d3c9813454b" /><Relationship Type="http://schemas.openxmlformats.org/officeDocument/2006/relationships/slide" Target="/ppt/slides/slide2.xml" Id="R3832c7415e6d434f" /><Relationship Type="http://schemas.openxmlformats.org/officeDocument/2006/relationships/slide" Target="/ppt/slides/slide3.xml" Id="Rcfa79cbabd03462a" /><Relationship Type="http://schemas.openxmlformats.org/officeDocument/2006/relationships/slide" Target="/ppt/slides/slide4.xml" Id="Re26466d60e4f426d" /><Relationship Type="http://schemas.openxmlformats.org/officeDocument/2006/relationships/slide" Target="/ppt/slides/slide5.xml" Id="R2e547aa078ff49ab" /><Relationship Type="http://schemas.openxmlformats.org/officeDocument/2006/relationships/slide" Target="/ppt/slides/slide6.xml" Id="R7218cfe100154278" /><Relationship Type="http://schemas.openxmlformats.org/officeDocument/2006/relationships/slide" Target="/ppt/slides/slide7.xml" Id="R2b44b8feb86243ff" /><Relationship Type="http://schemas.openxmlformats.org/officeDocument/2006/relationships/slide" Target="/ppt/slides/slide8.xml" Id="R280ab11a45f14eb6" /><Relationship Type="http://schemas.openxmlformats.org/officeDocument/2006/relationships/slide" Target="/ppt/slides/slide9.xml" Id="R4ed6f0e83fb2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4b0483b1f41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ddd150c18d4d02" /><Relationship Type="http://schemas.openxmlformats.org/officeDocument/2006/relationships/notesMaster" Target="/ppt/notesMasters/notesMaster1.xml" Id="Rbad97fe4e529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c03d6dc2b48f4" /><Relationship Type="http://schemas.openxmlformats.org/officeDocument/2006/relationships/notesMaster" Target="/ppt/notesMasters/notesMaster1.xml" Id="R7f626159844e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842a6c7164d76" /><Relationship Type="http://schemas.openxmlformats.org/officeDocument/2006/relationships/notesMaster" Target="/ppt/notesMasters/notesMaster1.xml" Id="Rbb790b96d662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cf7f334b64ad7" /><Relationship Type="http://schemas.openxmlformats.org/officeDocument/2006/relationships/notesMaster" Target="/ppt/notesMasters/notesMaster1.xml" Id="R039246f8155f45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41b014205f4e24" /><Relationship Type="http://schemas.openxmlformats.org/officeDocument/2006/relationships/notesMaster" Target="/ppt/notesMasters/notesMaster1.xml" Id="Ra0b1d810978c46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804a404e1e4a03" /><Relationship Type="http://schemas.openxmlformats.org/officeDocument/2006/relationships/notesMaster" Target="/ppt/notesMasters/notesMaster1.xml" Id="R28965b7846704b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568c3199804010" /><Relationship Type="http://schemas.openxmlformats.org/officeDocument/2006/relationships/notesMaster" Target="/ppt/notesMasters/notesMaster1.xml" Id="R0393346557ee4b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b7d9df37c64563" /><Relationship Type="http://schemas.openxmlformats.org/officeDocument/2006/relationships/notesMaster" Target="/ppt/notesMasters/notesMaster1.xml" Id="R016b4016d8e94f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c240f8c88e49e3" /><Relationship Type="http://schemas.openxmlformats.org/officeDocument/2006/relationships/notesMaster" Target="/ppt/notesMasters/notesMaster1.xml" Id="R37907e56e4b2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本页事实与数据来源：benchmark/results/baseline/summary.json；benchmark/results/reports/dataset_validation.json；benchmark/README.md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18c40b6f442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31658ebe7c4453" /><Relationship Type="http://schemas.openxmlformats.org/officeDocument/2006/relationships/slideLayout" Target="/ppt/slideLayouts/slideLayout1.xml" Id="Ra33d45839bfa41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d45839bfa41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31194dfaf46fe" /><Relationship Type="http://schemas.openxmlformats.org/officeDocument/2006/relationships/notesSlide" Target="/ppt/notesSlides/notesSlide1.xml" Id="R7cf04af446dc40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5f2361ec24098" /><Relationship Type="http://schemas.openxmlformats.org/officeDocument/2006/relationships/notesSlide" Target="/ppt/notesSlides/notesSlide2.xml" Id="R7312ffb6e71c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c25fa19cf481f" /><Relationship Type="http://schemas.openxmlformats.org/officeDocument/2006/relationships/notesSlide" Target="/ppt/notesSlides/notesSlide3.xml" Id="Rff6d07c043c446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c6354188f4d31" /><Relationship Type="http://schemas.openxmlformats.org/officeDocument/2006/relationships/notesSlide" Target="/ppt/notesSlides/notesSlide4.xml" Id="R608e1659b83742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f45d18e9a4620" /><Relationship Type="http://schemas.openxmlformats.org/officeDocument/2006/relationships/notesSlide" Target="/ppt/notesSlides/notesSlide5.xml" Id="R70195df65c1f47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9b386ba954bb1" /><Relationship Type="http://schemas.openxmlformats.org/officeDocument/2006/relationships/notesSlide" Target="/ppt/notesSlides/notesSlide6.xml" Id="Ra6ff965408b746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0a5aa6d58436b" /><Relationship Type="http://schemas.openxmlformats.org/officeDocument/2006/relationships/notesSlide" Target="/ppt/notesSlides/notesSlide7.xml" Id="R1d19007360ac4a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9c6ed1e1a4f36" /><Relationship Type="http://schemas.openxmlformats.org/officeDocument/2006/relationships/chart" Target="/ppt/slides/charts/chart1.xml" Id="R0805227626f24e20" /><Relationship Type="http://schemas.openxmlformats.org/officeDocument/2006/relationships/notesSlide" Target="/ppt/notesSlides/notesSlide8.xml" Id="Rebf81ca2082f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d75bc19494a45" /><Relationship Type="http://schemas.openxmlformats.org/officeDocument/2006/relationships/notesSlide" Target="/ppt/notesSlides/notesSlide9.xml" Id="R3a3838a0053e4af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案例数</c:v>
          </c:tx>
          <c:spPr>
            <a:solidFill xmlns:a="http://schemas.openxmlformats.org/drawingml/2006/main">
              <a:srgbClr val="2E74B5"/>
            </a:solidFill>
          </c:spPr>
          <c:cat>
            <c:strLit>
              <c:ptCount val="5"/>
              <c:pt idx="0">
                <c:v>代码规范</c:v>
              </c:pt>
              <c:pt idx="1">
                <c:v>合同</c:v>
              </c:pt>
              <c:pt idx="2">
                <c:v>企业制度</c:v>
              </c:pt>
              <c:pt idx="3">
                <c:v>API 规范</c:v>
              </c:pt>
              <c:pt idx="4">
                <c:v>扫描文档</c:v>
              </c:pt>
            </c:strLit>
          </c:cat>
          <c:val>
            <c:numLit>
              <c:formatCode>General</c:formatCode>
              <c:ptCount val="5"/>
              <c:pt idx="0">
                <c:v>6</c:v>
              </c:pt>
              <c:pt idx="1">
                <c:v>4</c:v>
              </c:pt>
              <c:pt idx="2">
                <c:v>4</c:v>
              </c:pt>
              <c:pt idx="3">
                <c:v>3</c:v>
              </c:pt>
              <c:pt idx="4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739FC-5550-455E-863A-5FDC72C1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</a:defRPr>
            </a:pPr>
            <a:r>
              <a:rPr sz="3900" b="1">
                <a:solidFill>
                  <a:srgbClr val="0B2545"/>
                </a:solidFill>
              </a:rPr>
              <a:t>ZYRelay DocIntelligence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80BE6-0A25-4460-A590-B45BB38D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文档智能解析、代码规范识别与可追溯基准测试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C9456-7714-4EFF-BA8B-D77BBBB4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2516E-C3DB-4962-8176-1821E965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内容：框架内容｜接口说明｜业务流程｜测试设计｜测试结果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6429A-8C29-4097-BA0E-938C5167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版本 0.5.0  ·  基线 23 个案例  ·  2026-08-03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B4629-DB50-4383-8317-A101ADC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1</a:t>
            </a:r>
          </a:p>
        </p:txBody>
      </p:sp>
    </p:spTree>
    <p:extLst>
      <p:ext uri="{BB962C8B-B14F-4D97-AF65-F5344CB8AC3E}">
        <p14:creationId xmlns:p14="http://schemas.microsoft.com/office/powerpoint/2010/main" val="839391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24297-A1B4-4DB5-85DA-69CF79A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框架内容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3AA1E-1293-4DC7-B10B-1E506D04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系统以“规则优先、结果可追溯”为核心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304C9-79AF-436C-8D36-215CCE1F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355AF-58B1-4339-8469-48B5D5D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1432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E9AAF-1360-45D5-B7E1-1013397A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78"/>
                </a:solidFill>
              </a:defRPr>
            </a:pPr>
            <a:r>
              <a:rPr sz="1950" b="1">
                <a:solidFill>
                  <a:srgbClr val="1F4D78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02046-ABED-4C49-92D0-DB68D6D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PDF、DOCX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扫描 PDF 可进入 OCR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A4376-0EE0-4C13-8B0E-F56ABE08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1432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C9C1E-FFD4-4AD5-A6F5-A1A0E86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78"/>
                </a:solidFill>
              </a:defRPr>
            </a:pPr>
            <a:r>
              <a:rPr sz="1950" b="1">
                <a:solidFill>
                  <a:srgbClr val="1F4D78"/>
                </a:solidFill>
              </a:rPr>
              <a:t>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EAE41-F4BB-4B0E-A36D-EBCE607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解析、分块、文本标准化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标签与规则匹配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CB05B-99D6-423E-895A-7DF989A2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31432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F987A-0243-4819-8F52-9E8B518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78"/>
                </a:solidFill>
              </a:defRPr>
            </a:pPr>
            <a:r>
              <a:rPr sz="1950" b="1">
                <a:solidFill>
                  <a:srgbClr val="1F4D78"/>
                </a:solidFill>
              </a:rPr>
              <a:t>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AA4C2-6BC0-4F99-A7EB-BB739BA5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UOM Package、semantic_index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候选对象、provenance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C0423-42ED-4033-A848-2C55DBF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不在本期范围：知识图谱存储、向量数据库、复杂推理和自动生成不可解释知识。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438B4-DBDB-4EBF-9B18-32F9634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2</a:t>
            </a:r>
          </a:p>
        </p:txBody>
      </p:sp>
    </p:spTree>
    <p:extLst>
      <p:ext uri="{BB962C8B-B14F-4D97-AF65-F5344CB8AC3E}">
        <p14:creationId xmlns:p14="http://schemas.microsoft.com/office/powerpoint/2010/main" val="390908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EED74-6E98-4650-95F0-07F9DB0C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框架内容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E6788-0F58-41F2-9476-129FED3B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核心组件分工清晰，可分别替换与测试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747F3-DAEC-41CB-A1E9-96594979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47750" y="1752600"/>
          <a:ext xmlns:a="http://schemas.openxmlformats.org/drawingml/2006/main" cx="9906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7429500"/>
              </a:tblGrid>
              <a:tr h="523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2545"/>
                          </a:solidFill>
                        </a:rPr>
                        <a:t>组件</a:t>
                      </a: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2545"/>
                          </a:solidFill>
                        </a:rPr>
                        <a:t>职责</a:t>
                      </a: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Parser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PDF / DOCX 文本、页码、标题、段落和表格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Pipeline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验证、提取、分块、标准化、匹配、索引、打包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Labeling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YAML 标签定义、正则、别名、可选模糊匹配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Semantics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semantic_index、业务对象候选、可选 LLM 补充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Storage / Relay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本地结果保存、模型记录、资源计划、provenance 查询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9E104-63EA-40CA-95CB-EBE113A1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配置文件驱动业务标签和业务对象规则，Python 代码不硬编码具体业务词表。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42AC7-8C39-44F5-88F2-76AF89A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3</a:t>
            </a:r>
          </a:p>
        </p:txBody>
      </p:sp>
    </p:spTree>
    <p:extLst>
      <p:ext uri="{BB962C8B-B14F-4D97-AF65-F5344CB8AC3E}">
        <p14:creationId xmlns:p14="http://schemas.microsoft.com/office/powerpoint/2010/main" val="544470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F6D85-4457-4AD4-9F32-F037810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框架内容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0E72E-E501-4BDB-8DFA-D0773F7A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输出既能被系统消费，也能回到原始文本核查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4AA7D-FA6E-464F-8CCB-851614ED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02823-ABFA-4F8E-B84B-3A9E5DE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SourceDocument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80198-47BD-42D9-9D71-53D282E2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文件类型、哈希、页数、解析状态、是否需要 OCR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DE583-6DC0-4B8B-8403-20A1564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CFAF2-E874-47B9-8795-EEAB1118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DocumentBlock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8CED6-231D-4FF3-A767-A3FB54B5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页码、顺序、原文、标准化文本、起止 offset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4B99C-9F92-4F6D-B4FE-14B11864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A0E84-33EE-4C12-A938-CF89BCA0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LabelMention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44502-30CB-459C-9D1A-DBAB884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标签、命中原文、置信度、匹配方式、证据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154A4-ABEF-43AB-AC69-7913F420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74DD0-9E67-4D69-9AB4-F5629D07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semantic_index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F3CCE-411C-4830-8628-7AC9E89B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按 label_code 聚合，定位到文档、页面、block 与 offset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DC7AC-515E-47AA-BCBF-67FB5D35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3328C-47C5-4540-874B-29F6D81C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Candidate / UOM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BF72A-10F1-4D2D-8A93-B34BBE87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业务对象候选、来源 mentions、处理步骤、告警和错误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D52ED-0F2D-46F7-9F59-9FE73BE9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7FF61-AE93-4B18-A049-C33AB45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B4F"/>
                </a:solidFill>
              </a:defRPr>
            </a:pPr>
            <a:r>
              <a:rPr sz="1575" b="1">
                <a:solidFill>
                  <a:srgbClr val="1F6B4F"/>
                </a:solidFill>
              </a:rPr>
              <a:t>关键要求：语义结果必须保留页码、block_id、offset 和原文证据；不能产生无法定位来源的结论。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C0CD8-DC37-41E5-86E2-12A0EC0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4</a:t>
            </a:r>
          </a:p>
        </p:txBody>
      </p:sp>
    </p:spTree>
    <p:extLst>
      <p:ext uri="{BB962C8B-B14F-4D97-AF65-F5344CB8AC3E}">
        <p14:creationId xmlns:p14="http://schemas.microsoft.com/office/powerpoint/2010/main" val="545603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99EFB-825A-44C0-BC16-7BC299AE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接口说明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B2FFD-0458-4CCB-8330-A55BA759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三种调用方式覆盖服务、程序和脚本场景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A99B9-B362-4C41-A4E9-0DF39417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76300" y="1638300"/>
          <a:ext xmlns:a="http://schemas.openxmlformats.org/drawingml/2006/main" cx="10382250" cy="3486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4953000"/>
                <a:gridCol w="4191000"/>
              </a:tblGrid>
              <a:tr h="49802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B2545"/>
                          </a:solidFill>
                        </a:rPr>
                        <a:t>方式</a:t>
                      </a: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B2545"/>
                          </a:solidFill>
                        </a:rPr>
                        <a:t>接口或入口</a:t>
                      </a: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B2545"/>
                          </a:solidFill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POST /api/v1/documents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上传 PDF / DOCX 并同步处理</a:t>
                      </a:r>
                    </a:p>
                  </a:txBody>
                  <a:tcPr marL="91440" marR="91440" marT="45720" marB="45720"/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GET /api/v1/documents/{id}/uom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获取完整 UOM Package</a:t>
                      </a:r>
                    </a:p>
                  </a:txBody>
                  <a:tcPr marL="91440" marR="91440" marT="45720" marB="45720"/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GET /api/v1/documents/{id}/semantic-index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按标签索引查看证据</a:t>
                      </a:r>
                    </a:p>
                  </a:txBody>
                  <a:tcPr marL="91440" marR="91440" marT="45720" marB="45720"/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GET /api/v1/search?label_code=...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按标签、文档、值查询定位结果</a:t>
                      </a:r>
                    </a:p>
                  </a:txBody>
                  <a:tcPr marL="91440" marR="91440" marT="45720" marB="45720"/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Python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RelayService / DocumentService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嵌入本地 Python 工作流</a:t>
                      </a:r>
                    </a:p>
                  </a:txBody>
                  <a:tcPr marL="91440" marR="91440" marT="45720" marB="45720"/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CLI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zyrelay-plugin / benchmark scripts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插件调用、批量基线和回归比较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C7BD8-2FD0-41F8-89A4-51BA6303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REST 返回中包含文档元数据、blocks、mentions、semantic_index、候选对象与处理记录。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237F4-05FA-4068-BFF9-A3C0EC87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5</a:t>
            </a:r>
          </a:p>
        </p:txBody>
      </p:sp>
    </p:spTree>
    <p:extLst>
      <p:ext uri="{BB962C8B-B14F-4D97-AF65-F5344CB8AC3E}">
        <p14:creationId xmlns:p14="http://schemas.microsoft.com/office/powerpoint/2010/main" val="1577096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2216C-94DC-40BF-BD5E-B6C278D2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业务流程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0E9C8-AC3B-42A3-BA96-3E4793F7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处理流程按固定顺序执行，失败会记录而不是静默忽略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115D8-E947-4EC7-8182-60673B3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B1500-AFC2-425B-BE57-90DAA3E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67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</a:defRPr>
            </a:pPr>
            <a:r>
              <a:rPr sz="21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1D6F6-3EC3-46A2-8F4D-4F24B929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3525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81A93-BBC5-4676-9CC0-792D3418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D78"/>
                </a:solidFill>
              </a:defRPr>
            </a:pPr>
            <a:r>
              <a:rPr sz="1425" b="1">
                <a:solidFill>
                  <a:srgbClr val="1F4D78"/>
                </a:solidFill>
              </a:rPr>
              <a:t>文件校验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E22E4-59F9-44B1-9CC3-A70337D7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</a:defRPr>
            </a:pPr>
            <a:r>
              <a:rPr sz="21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EAEC4-B2D9-4E13-805F-AB12EC64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90750"/>
            <a:ext cx="13525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670B2-5833-4311-AA88-9C829CA4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336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D78"/>
                </a:solidFill>
              </a:defRPr>
            </a:pPr>
            <a:r>
              <a:rPr sz="1425" b="1">
                <a:solidFill>
                  <a:srgbClr val="1F4D78"/>
                </a:solidFill>
              </a:rPr>
              <a:t>解析提取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5A130-6EBC-479B-B2EB-D88EC841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7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</a:defRPr>
            </a:pPr>
            <a:r>
              <a:rPr sz="21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7D8D5-F36A-4920-A484-A4753C9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90750"/>
            <a:ext cx="13525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4BE96-942F-4309-B076-BA05DE20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336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D78"/>
                </a:solidFill>
              </a:defRPr>
            </a:pPr>
            <a:r>
              <a:rPr sz="1425" b="1">
                <a:solidFill>
                  <a:srgbClr val="1F4D78"/>
                </a:solidFill>
              </a:rPr>
              <a:t>统一 blocks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17E50-FE1D-4956-9A6F-34D40FE5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67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</a:defRPr>
            </a:pPr>
            <a:r>
              <a:rPr sz="21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458F3-74E6-40ED-80D0-E64CD797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90750"/>
            <a:ext cx="13525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41307-78C9-4D5D-A18E-C1674D0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5336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D78"/>
                </a:solidFill>
              </a:defRPr>
            </a:pPr>
            <a:r>
              <a:rPr sz="1425" b="1">
                <a:solidFill>
                  <a:srgbClr val="1F4D78"/>
                </a:solidFill>
              </a:rPr>
              <a:t>标签匹配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129F0-0334-4688-892B-4A7C6E19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</a:defRPr>
            </a:pPr>
            <a:r>
              <a:rPr sz="21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D5E2A-95DB-45D1-A0A0-4786A7F7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13525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4CB22-5AE5-4648-8B85-BC55A09F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D78"/>
                </a:solidFill>
              </a:defRPr>
            </a:pPr>
            <a:r>
              <a:rPr sz="1425" b="1">
                <a:solidFill>
                  <a:srgbClr val="1F4D78"/>
                </a:solidFill>
              </a:rPr>
              <a:t>语义索引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C6FB4-678A-4852-9655-B5233AB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67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</a:defRPr>
            </a:pPr>
            <a:r>
              <a:rPr sz="21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96257-E4D1-47DB-AB98-8FC6EBC7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90750"/>
            <a:ext cx="13525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A6069-53A6-4473-A71D-B953CE2A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336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D78"/>
                </a:solidFill>
              </a:defRPr>
            </a:pPr>
            <a:r>
              <a:rPr sz="1425" b="1">
                <a:solidFill>
                  <a:srgbClr val="1F4D78"/>
                </a:solidFill>
              </a:rPr>
              <a:t>候选对象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C0365-A13F-486D-9C38-E0EA0A36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90750"/>
            <a:ext cx="13525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7168E-4A5D-4027-A92D-3AB5B463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336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D78"/>
                </a:solidFill>
              </a:defRPr>
            </a:pPr>
            <a:r>
              <a:rPr sz="1425" b="1">
                <a:solidFill>
                  <a:srgbClr val="1F4D78"/>
                </a:solidFill>
              </a:rPr>
              <a:t>UOM / 保存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020DF-2A44-4D8E-B3C2-0F071DE2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442912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772F0-D56D-4793-BE66-52D779B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OCR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75C07-2A9A-40AC-BBC6-2C0F387F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图片型页面无可提取文本时标记 requires_ocr；真实模型可用则调用，不能下载时回退 NoOp。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E2AE9-E85D-4B95-BCA2-783FBF61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42912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18D19E-B2D7-47D2-ABE3-4B75BE2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LLM（可选）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CDB6E-8D67-4CB8-ADA1-16F036A4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6725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默认关闭，只补充规则未覆盖且有 block 证据的候选，不覆盖高置信度规则结果。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35BB0-F907-4B30-B73F-55D12EDA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6</a:t>
            </a:r>
          </a:p>
        </p:txBody>
      </p:sp>
    </p:spTree>
    <p:extLst>
      <p:ext uri="{BB962C8B-B14F-4D97-AF65-F5344CB8AC3E}">
        <p14:creationId xmlns:p14="http://schemas.microsoft.com/office/powerpoint/2010/main" val="1462889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57F33-306D-484E-B721-27A65224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测试设计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41F0D-A680-47C5-8180-AA5C4F6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测试采用“数据集 + 案例 + 评估 + 回归比较”四层设计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B0CA8-09F8-4AD5-B161-F12CA83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1A897-5048-4211-B32B-9AE9CFB4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4B5"/>
                </a:solidFill>
              </a:defRPr>
            </a:pPr>
            <a:r>
              <a:rPr sz="1725" b="1">
                <a:solidFill>
                  <a:srgbClr val="2E74B5"/>
                </a:solidFill>
              </a:rPr>
              <a:t>1. 数据集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6EED5-7B58-4108-AA85-FD96DAAD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335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官方来源、HTTPS 域名白名单、许可审核、哈希与稳定 BC-ID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AA54A-67A8-411E-A6C5-7AF41F92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0DA8B-0F44-46CF-8CE1-6AC1AA91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4B5"/>
                </a:solidFill>
              </a:defRPr>
            </a:pPr>
            <a:r>
              <a:rPr sz="1725" b="1">
                <a:solidFill>
                  <a:srgbClr val="2E74B5"/>
                </a:solidFill>
              </a:rPr>
              <a:t>2. 案例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346A0-6444-49A1-A602-44D12344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098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每份文档独立 YAML：处理模式、OCR 开关、最小预期与局部真值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45D51-FAB1-4BAD-9DD3-8D5A6D53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46063-4E7A-4122-BFE4-B2E882E9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4B5"/>
                </a:solidFill>
              </a:defRPr>
            </a:pPr>
            <a:r>
              <a:rPr sz="1725" b="1">
                <a:solidFill>
                  <a:srgbClr val="2E74B5"/>
                </a:solidFill>
              </a:rPr>
              <a:t>3. 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4E293-3875-434A-BE0E-6226AFD5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861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block 顺序、证据、provenance、OCR 非空文本和 bbox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A3882-E3A4-4C86-8959-F53E04D9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E57F9-E036-4A5B-9C3C-1B67349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4B5"/>
                </a:solidFill>
              </a:defRPr>
            </a:pPr>
            <a:r>
              <a:rPr sz="1725" b="1">
                <a:solidFill>
                  <a:srgbClr val="2E74B5"/>
                </a:solidFill>
              </a:rPr>
              <a:t>4. 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28CA6-C430-4ADF-BC3F-DF147D70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624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对比 baseline / latest；召回、证据和 provenance 下降判为回归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629C8-F857-4A91-A1AB-66E203E5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4971B-9075-48E1-8E56-3CE8129F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当前基线检查以结构、OCR、证据和追溯为主；业务字段/规则逐步增加经过人工审核的局部金标。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E97B2-8FAD-4437-9367-EB8C373A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7</a:t>
            </a:r>
          </a:p>
        </p:txBody>
      </p:sp>
    </p:spTree>
    <p:extLst>
      <p:ext uri="{BB962C8B-B14F-4D97-AF65-F5344CB8AC3E}">
        <p14:creationId xmlns:p14="http://schemas.microsoft.com/office/powerpoint/2010/main" val="747117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95277-1F0C-47E3-8575-7E5D6D9E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测试结果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46466-4E5A-4EA0-842E-B2550A1E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23 个实际案例全部完成，关键可追溯检查通过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A7C3-0D73-4DC3-866A-2B7F713B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00100" y="1714500"/>
          <a:ext xmlns:a="http://schemas.openxmlformats.org/drawingml/2006/main" cx="5524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05227626f24e2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95E82-7129-4CC2-B6A0-ABD907DB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基线成功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AFE26-5950-4E7F-83C8-A61A8915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09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6B4F"/>
                </a:solidFill>
              </a:defRPr>
            </a:pPr>
            <a:r>
              <a:rPr sz="1800" b="1">
                <a:solidFill>
                  <a:srgbClr val="1F6B4F"/>
                </a:solidFill>
              </a:rPr>
              <a:t>23/23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BF152-0554-4F9F-B9DF-5598676F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28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预期检查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6E382-1E31-4B7D-9EC3-E4899D3B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288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6B4F"/>
                </a:solidFill>
              </a:defRPr>
            </a:pPr>
            <a:r>
              <a:rPr sz="1800" b="1">
                <a:solidFill>
                  <a:srgbClr val="1F6B4F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8B181-AFCF-4881-B855-67D9A4B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证据有效性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9EA47-085A-42D6-BA4A-6CFC4D36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6B4F"/>
                </a:solidFill>
              </a:defRPr>
            </a:pPr>
            <a:r>
              <a:rPr sz="1800" b="1">
                <a:solidFill>
                  <a:srgbClr val="1F6B4F"/>
                </a:solidFill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07B11-DBDD-4DEC-BC60-C890496B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provenance 有效性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A93A8-5EC9-494C-9BC2-07610D38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6B4F"/>
                </a:solidFill>
              </a:defRPr>
            </a:pPr>
            <a:r>
              <a:rPr sz="1800" b="1">
                <a:solidFill>
                  <a:srgbClr val="1F6B4F"/>
                </a:solidFill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70595-CB0B-41E9-941C-1BC5B41B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86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总处理耗时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E9831-D169-47F4-B16A-E974BF87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86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6B4F"/>
                </a:solidFill>
              </a:defRPr>
            </a:pPr>
            <a:r>
              <a:rPr sz="1800" b="1">
                <a:solidFill>
                  <a:srgbClr val="1F6B4F"/>
                </a:solidFill>
              </a:rPr>
              <a:t>632.2 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26FD3-5DD4-4D57-AFD7-D6432E82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数据集校验：23 个条目；扫描件 6 个；配置计数校验通过。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329B7-08DC-47BD-A175-FEBEB925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8</a:t>
            </a:r>
          </a:p>
        </p:txBody>
      </p:sp>
    </p:spTree>
    <p:extLst>
      <p:ext uri="{BB962C8B-B14F-4D97-AF65-F5344CB8AC3E}">
        <p14:creationId xmlns:p14="http://schemas.microsoft.com/office/powerpoint/2010/main" val="1831131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5FB6A-7D7F-4F89-B087-D5B27B8A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A05A6-F4EE-4FC3-B76A-3CF5CD4B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当前成果已可用于演示、回归验证与后续扩展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50159-C226-41A4-9884-7453C4A1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130B9-AD41-43ED-8CD3-249DB78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4B5"/>
                </a:solidFill>
              </a:defRPr>
            </a:pPr>
            <a:r>
              <a:rPr sz="1725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33F23-EC93-4714-8710-8182E285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09750"/>
            <a:ext cx="939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可演示：上传 PDF / DOCX，查看 blocks、标签、semantic_index、候选对象与追溯证据。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530E7-208E-47CD-93DD-29F5454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4B5"/>
                </a:solidFill>
              </a:defRPr>
            </a:pPr>
            <a:r>
              <a:rPr sz="1725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3FEE9-60EB-4A96-A4AA-7545618A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939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可验证：使用 benchmark 脚本重复执行 23 个案例，并与基线结果比较。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2007F-3301-47EB-805A-A93ECC8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4B5"/>
                </a:solidFill>
              </a:defRPr>
            </a:pPr>
            <a:r>
              <a:rPr sz="1725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ADD13-21FC-4E6A-9A17-E8445CAE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95650"/>
            <a:ext cx="939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可扩展：通过 YAML 增加标签、业务对象和案例；OCR / LLM 以插件方式接入。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24A3B-1DA3-461B-988C-7699BB9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78"/>
                </a:solidFill>
              </a:defRPr>
            </a:pPr>
            <a:r>
              <a:rPr sz="1800" b="1">
                <a:solidFill>
                  <a:srgbClr val="1F4D78"/>
                </a:solidFill>
              </a:rPr>
              <a:t>下一步建议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7B0FD-A570-459F-825A-24E28F0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为每类文档补充经人工审核的关键字段和规则金标，并将 baseline 纳入版本发布前的回归门禁。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EECD5-6EAE-497B-A073-EA4C73A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21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演示入口：/docs（Swagger）或 Python / CLI 插件调用。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8E7D5-4EBB-47C6-8EFF-AFD921E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ZYRelay DocIntelligence 正式演示  |  9</a:t>
            </a:r>
          </a:p>
        </p:txBody>
      </p:sp>
    </p:spTree>
    <p:extLst>
      <p:ext uri="{BB962C8B-B14F-4D97-AF65-F5344CB8AC3E}">
        <p14:creationId xmlns:p14="http://schemas.microsoft.com/office/powerpoint/2010/main" val="765977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2026-08-03T06:16:55.6360000Z</dcterms:created>
  <dcterms:modified xsi:type="dcterms:W3CDTF">2026-08-03T06:16:55.6360000Z</dcterms:modified>
</coreProperties>
</file>